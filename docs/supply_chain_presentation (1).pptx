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3200400" cy="3200400"/>
          </a:xfrm>
          <a:prstGeom prst="ellipse">
            <a:avLst/>
          </a:prstGeom>
          <a:solidFill>
            <a:srgbClr val="0D5F7A">
              <a:alpha val="70000"/>
            </a:srgbClr>
          </a:solidFill>
          <a:ln w="12700">
            <a:solidFill>
              <a:srgbClr val="0D5F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645920"/>
            <a:ext cx="2560320" cy="2560320"/>
          </a:xfrm>
          <a:prstGeom prst="ellipse">
            <a:avLst/>
          </a:prstGeom>
          <a:solidFill>
            <a:srgbClr val="1A3A4A">
              <a:alpha val="80000"/>
            </a:srgbClr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SCIENCE &amp; ML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5943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
</a:t>
            </a:r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Delay
</a:t>
            </a:r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118872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Science &amp; ML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0A8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shipping delays matter in modern supply chains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325880"/>
            <a:ext cx="2788920" cy="1783080"/>
          </a:xfrm>
          <a:prstGeom prst="rect">
            <a:avLst/>
          </a:prstGeom>
          <a:solidFill>
            <a:srgbClr val="F9EDED"/>
          </a:solidFill>
          <a:ln w="25400">
            <a:solidFill>
              <a:srgbClr val="CC22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325880"/>
            <a:ext cx="2788920" cy="18288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6002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Dissatisfaction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55264" y="1325880"/>
            <a:ext cx="2788920" cy="1783080"/>
          </a:xfrm>
          <a:prstGeom prst="rect">
            <a:avLst/>
          </a:prstGeom>
          <a:solidFill>
            <a:srgbClr val="FAF0E0"/>
          </a:solidFill>
          <a:ln w="25400">
            <a:solidFill>
              <a:srgbClr val="CC77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55264" y="1325880"/>
            <a:ext cx="2788920" cy="182880"/>
          </a:xfrm>
          <a:prstGeom prst="rect">
            <a:avLst/>
          </a:prstGeom>
          <a:solidFill>
            <a:srgbClr val="CC7700"/>
          </a:solidFill>
          <a:ln w="12700">
            <a:solidFill>
              <a:srgbClr val="CC7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55264" y="16002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C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54496" y="1325880"/>
            <a:ext cx="2788920" cy="1783080"/>
          </a:xfrm>
          <a:prstGeom prst="rect">
            <a:avLst/>
          </a:prstGeom>
          <a:solidFill>
            <a:srgbClr val="F0EAF9"/>
          </a:solidFill>
          <a:ln w="25400">
            <a:solidFill>
              <a:srgbClr val="8833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4496" y="1325880"/>
            <a:ext cx="2788920" cy="182880"/>
          </a:xfrm>
          <a:prstGeom prst="rect">
            <a:avLst/>
          </a:prstGeom>
          <a:solidFill>
            <a:srgbClr val="8833CC"/>
          </a:solidFill>
          <a:ln w="12700">
            <a:solidFill>
              <a:srgbClr val="8833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6002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3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883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Inefficiencies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56032" y="3291840"/>
            <a:ext cx="8631936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83280"/>
            <a:ext cx="8321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shipping delays using machine learning so companies can take preventive actions before delays occur — improving service reliability and reducing operational costs.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2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058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order data used for model training and evaluation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029200" cy="3383280"/>
          </a:xfrm>
          <a:prstGeom prst="rect">
            <a:avLst/>
          </a:prstGeom>
          <a:solidFill>
            <a:srgbClr val="17304A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Shipping Mode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Segment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 Region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 Item Quantity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10896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42900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 Date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7490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Shipping Date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06908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Scheduled Shipment Days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1234440"/>
            <a:ext cx="3200400" cy="3383280"/>
          </a:xfrm>
          <a:prstGeom prst="rect">
            <a:avLst/>
          </a:prstGeom>
          <a:solidFill>
            <a:srgbClr val="17304A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1417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Target Variable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06440" y="1874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Delay (days)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0644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Date − Order Date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06440" y="2606040"/>
            <a:ext cx="283464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26700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 = ShipDate − OrderDate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06440" y="3337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values indicate delayed shipments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WORKFLOW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9144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4206240" cy="841248"/>
          </a:xfrm>
          <a:prstGeom prst="rect">
            <a:avLst/>
          </a:prstGeom>
          <a:solidFill>
            <a:srgbClr val="17304A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475488" cy="841248"/>
          </a:xfrm>
          <a:prstGeom prst="rect">
            <a:avLst/>
          </a:prstGeom>
          <a:solidFill>
            <a:srgbClr val="0090A8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4754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92354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2710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outliers, data types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4206240" cy="841248"/>
          </a:xfrm>
          <a:prstGeom prst="rect">
            <a:avLst/>
          </a:prstGeom>
          <a:solidFill>
            <a:srgbClr val="17304A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74520"/>
            <a:ext cx="475488" cy="841248"/>
          </a:xfrm>
          <a:prstGeom prst="rect">
            <a:avLst/>
          </a:prstGeom>
          <a:solidFill>
            <a:srgbClr val="0090A8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74520"/>
            <a:ext cx="4754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92938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2768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distributions &amp; correlations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206240" cy="841248"/>
          </a:xfrm>
          <a:prstGeom prst="rect">
            <a:avLst/>
          </a:prstGeom>
          <a:solidFill>
            <a:srgbClr val="17304A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880360"/>
            <a:ext cx="475488" cy="841248"/>
          </a:xfrm>
          <a:prstGeom prst="rect">
            <a:avLst/>
          </a:prstGeom>
          <a:solidFill>
            <a:srgbClr val="0090A8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880360"/>
            <a:ext cx="4754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293522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28269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encode meaningful features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886200"/>
            <a:ext cx="4206240" cy="841248"/>
          </a:xfrm>
          <a:prstGeom prst="rect">
            <a:avLst/>
          </a:prstGeom>
          <a:solidFill>
            <a:srgbClr val="17304A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886200"/>
            <a:ext cx="475488" cy="841248"/>
          </a:xfrm>
          <a:prstGeom prst="rect">
            <a:avLst/>
          </a:prstGeom>
          <a:solidFill>
            <a:srgbClr val="0090A8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886200"/>
            <a:ext cx="4754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94106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2885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ML regression models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868680"/>
            <a:ext cx="4206240" cy="841248"/>
          </a:xfrm>
          <a:prstGeom prst="rect">
            <a:avLst/>
          </a:prstGeom>
          <a:solidFill>
            <a:srgbClr val="17304A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868680"/>
            <a:ext cx="475488" cy="841248"/>
          </a:xfrm>
          <a:prstGeom prst="rect">
            <a:avLst/>
          </a:prstGeom>
          <a:solidFill>
            <a:srgbClr val="0090A8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868680"/>
            <a:ext cx="4754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92354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12710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using MAE &amp; RMSE metrics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874520"/>
            <a:ext cx="4206240" cy="841248"/>
          </a:xfrm>
          <a:prstGeom prst="rect">
            <a:avLst/>
          </a:prstGeom>
          <a:solidFill>
            <a:srgbClr val="17304A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874520"/>
            <a:ext cx="475488" cy="841248"/>
          </a:xfrm>
          <a:prstGeom prst="rect">
            <a:avLst/>
          </a:prstGeom>
          <a:solidFill>
            <a:srgbClr val="0090A8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874520"/>
            <a:ext cx="4754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0" y="192938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(SHAP)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22768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feature impact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880360"/>
            <a:ext cx="4206240" cy="841248"/>
          </a:xfrm>
          <a:prstGeom prst="rect">
            <a:avLst/>
          </a:prstGeom>
          <a:solidFill>
            <a:srgbClr val="17304A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880360"/>
            <a:ext cx="475488" cy="841248"/>
          </a:xfrm>
          <a:prstGeom prst="rect">
            <a:avLst/>
          </a:prstGeom>
          <a:solidFill>
            <a:srgbClr val="0090A8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880360"/>
            <a:ext cx="4754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03520" y="293522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Architecture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03520" y="328269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FastAPI · XGBoost · MLflow · Docker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2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9144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raw data into model-ready features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Created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8412480" cy="548640"/>
          </a:xfrm>
          <a:prstGeom prst="rect">
            <a:avLst/>
          </a:prstGeom>
          <a:solidFill>
            <a:srgbClr val="17304A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45920"/>
            <a:ext cx="64008" cy="548640"/>
          </a:xfrm>
          <a:prstGeom prst="rect">
            <a:avLst/>
          </a:prstGeom>
          <a:solidFill>
            <a:srgbClr val="0090A8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824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Delay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ShipDate − OrderDate (target variable)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8412480" cy="548640"/>
          </a:xfrm>
          <a:prstGeom prst="rect">
            <a:avLst/>
          </a:prstGeom>
          <a:solidFill>
            <a:srgbClr val="17304A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304288"/>
            <a:ext cx="64008" cy="548640"/>
          </a:xfrm>
          <a:prstGeom prst="rect">
            <a:avLst/>
          </a:prstGeom>
          <a:solidFill>
            <a:srgbClr val="0090A8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4086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Month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578608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Order Date for seasonality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62656"/>
            <a:ext cx="8412480" cy="548640"/>
          </a:xfrm>
          <a:prstGeom prst="rect">
            <a:avLst/>
          </a:prstGeom>
          <a:solidFill>
            <a:srgbClr val="17304A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62656"/>
            <a:ext cx="64008" cy="548640"/>
          </a:xfrm>
          <a:prstGeom prst="rect">
            <a:avLst/>
          </a:prstGeom>
          <a:solidFill>
            <a:srgbClr val="0090A8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992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Year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236976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year-over-year trend patterns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8412480" cy="1234440"/>
          </a:xfrm>
          <a:prstGeom prst="rect">
            <a:avLst/>
          </a:prstGeom>
          <a:solidFill>
            <a:srgbClr val="1A2E4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749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 — Label Encoding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096512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Mode, Customer Segment, Order Region were converted to numerical codes so tree-based models can process them efficiently.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9144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68680"/>
            <a:ext cx="8503920" cy="1078992"/>
          </a:xfrm>
          <a:prstGeom prst="rect">
            <a:avLst/>
          </a:prstGeom>
          <a:solidFill>
            <a:srgbClr val="17304A"/>
          </a:solidFill>
          <a:ln w="25400">
            <a:solidFill>
              <a:srgbClr val="447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960120"/>
            <a:ext cx="1417320" cy="320040"/>
          </a:xfrm>
          <a:prstGeom prst="rect">
            <a:avLst/>
          </a:prstGeom>
          <a:solidFill>
            <a:srgbClr val="3355AA"/>
          </a:solidFill>
          <a:ln w="12700">
            <a:solidFill>
              <a:srgbClr val="4477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9601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62456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a performance baseline using a linear relationship between features and delay. Simple, interpretable, fast to train.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8503920" cy="1078992"/>
          </a:xfrm>
          <a:prstGeom prst="rect">
            <a:avLst/>
          </a:prstGeom>
          <a:solidFill>
            <a:srgbClr val="17304A"/>
          </a:solidFill>
          <a:ln w="25400">
            <a:solidFill>
              <a:srgbClr val="33A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9456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0" y="2194560"/>
            <a:ext cx="1417320" cy="320040"/>
          </a:xfrm>
          <a:prstGeom prst="rect">
            <a:avLst/>
          </a:prstGeom>
          <a:solidFill>
            <a:srgbClr val="226633"/>
          </a:solidFill>
          <a:ln w="12700">
            <a:solidFill>
              <a:srgbClr val="33A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1945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596896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hundreds of decision trees to reduce variance. Handles non-linear patterns and feature interactions effectively.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337560"/>
            <a:ext cx="8503920" cy="1078992"/>
          </a:xfrm>
          <a:prstGeom prst="rect">
            <a:avLst/>
          </a:prstGeom>
          <a:solidFill>
            <a:srgbClr val="17304A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2900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0" y="3429000"/>
            <a:ext cx="1417320" cy="320040"/>
          </a:xfrm>
          <a:prstGeom prst="rect">
            <a:avLst/>
          </a:prstGeom>
          <a:solidFill>
            <a:srgbClr val="88660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34290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★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831336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 trees with regularisation. Optimised for both speed and accuracy — achieved the lowest MAE and RMSE.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evaluated using MAE (Mean Absolute Error) and RMSE (Root Mean Squared Error)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0A8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961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— lower MAE and RMSE indicate better performance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234440"/>
            <a:ext cx="8631936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2618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126187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0" y="126187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223760" y="126187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1645920"/>
            <a:ext cx="8631936" cy="420624"/>
          </a:xfrm>
          <a:prstGeom prst="rect">
            <a:avLst/>
          </a:prstGeom>
          <a:solidFill>
            <a:srgbClr val="F9F9F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6459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164592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0" y="164592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23760" y="164592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" y="2121408"/>
            <a:ext cx="8631936" cy="420624"/>
          </a:xfrm>
          <a:prstGeom prst="rect">
            <a:avLst/>
          </a:prstGeom>
          <a:solidFill>
            <a:srgbClr val="EFEFE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2121408"/>
            <a:ext cx="3840480" cy="42062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212140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1.009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0" y="212140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23760" y="212140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032" y="2596896"/>
            <a:ext cx="8631936" cy="420624"/>
          </a:xfrm>
          <a:prstGeom prst="rect">
            <a:avLst/>
          </a:prstGeom>
          <a:solidFill>
            <a:srgbClr val="F5C84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596896"/>
            <a:ext cx="3840480" cy="42062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★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259689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0" y="259689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1.261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23760" y="259689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🏆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6032" y="3218688"/>
            <a:ext cx="8631936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XGBoost achieved the best performance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12.7% lower MAE and 10.2% lower RMSE compared to the Linear Regression baseline, confirming the advantage of gradient boosting for this prediction task.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0A8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 —  SHAP ANALYSIS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which features drive shipping delay predictions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2070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SHAP Feature Importance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for Shipment (Scheduled)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3840480" cy="22860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828800"/>
            <a:ext cx="3840480" cy="228600"/>
          </a:xfrm>
          <a:prstGeom prst="rect">
            <a:avLst/>
          </a:prstGeom>
          <a:solidFill>
            <a:srgbClr val="0090A8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1828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1945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Mode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423160"/>
            <a:ext cx="3840480" cy="22860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423160"/>
            <a:ext cx="2995574" cy="228600"/>
          </a:xfrm>
          <a:prstGeom prst="rect">
            <a:avLst/>
          </a:prstGeom>
          <a:solidFill>
            <a:srgbClr val="0070A0"/>
          </a:solidFill>
          <a:ln w="12700">
            <a:solidFill>
              <a:srgbClr val="0070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2423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27889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Region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3840480" cy="22860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017520"/>
            <a:ext cx="2150669" cy="228600"/>
          </a:xfrm>
          <a:prstGeom prst="rect">
            <a:avLst/>
          </a:prstGeom>
          <a:solidFill>
            <a:srgbClr val="8833CC"/>
          </a:solidFill>
          <a:ln w="12700">
            <a:solidFill>
              <a:srgbClr val="8833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3017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33832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Quantity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611880"/>
            <a:ext cx="3840480" cy="22860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611880"/>
            <a:ext cx="1574597" cy="228600"/>
          </a:xfrm>
          <a:prstGeom prst="rect">
            <a:avLst/>
          </a:prstGeom>
          <a:solidFill>
            <a:srgbClr val="228833"/>
          </a:solidFill>
          <a:ln w="12700">
            <a:solidFill>
              <a:srgbClr val="2288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3611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39776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206240"/>
            <a:ext cx="3840480" cy="22860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206240"/>
            <a:ext cx="1152144" cy="228600"/>
          </a:xfrm>
          <a:prstGeom prst="rect">
            <a:avLst/>
          </a:prstGeom>
          <a:solidFill>
            <a:srgbClr val="CC7700"/>
          </a:solidFill>
          <a:ln w="12700">
            <a:solidFill>
              <a:srgbClr val="CC7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51960" y="4206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1207008"/>
            <a:ext cx="402336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SHAP?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171907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Additive exPlanations (SHAP) assigns each feature an importance value for every individual prediction.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245059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the model transparent and builds trust with stakeholders by showing WHY a particular delay was predicted.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0" y="3246120"/>
            <a:ext cx="3657600" cy="640080"/>
          </a:xfrm>
          <a:prstGeom prst="rect">
            <a:avLst/>
          </a:prstGeom>
          <a:solidFill>
            <a:srgbClr val="17304A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27355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model trust, interpretability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stakeholder confidence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9144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868680"/>
            <a:ext cx="1554480" cy="1371600"/>
          </a:xfrm>
          <a:prstGeom prst="rect">
            <a:avLst/>
          </a:prstGeom>
          <a:solidFill>
            <a:srgbClr val="17304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68680"/>
            <a:ext cx="155448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8686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" y="13258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" y="171907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Client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64792" y="1463040"/>
            <a:ext cx="109728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868680"/>
            <a:ext cx="1554480" cy="1371600"/>
          </a:xfrm>
          <a:prstGeom prst="rect">
            <a:avLst/>
          </a:prstGeom>
          <a:solidFill>
            <a:srgbClr val="17304A"/>
          </a:solidFill>
          <a:ln w="12700">
            <a:solidFill>
              <a:srgbClr val="CC22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20240" y="868680"/>
            <a:ext cx="1554480" cy="347472"/>
          </a:xfrm>
          <a:prstGeom prst="rect">
            <a:avLst/>
          </a:prstGeom>
          <a:solidFill>
            <a:srgbClr val="CC2244"/>
          </a:solidFill>
          <a:ln w="12700">
            <a:solidFill>
              <a:srgbClr val="CC22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8686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13258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171907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UI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83864" y="1463040"/>
            <a:ext cx="109728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39312" y="868680"/>
            <a:ext cx="1554480" cy="1371600"/>
          </a:xfrm>
          <a:prstGeom prst="rect">
            <a:avLst/>
          </a:prstGeom>
          <a:solidFill>
            <a:srgbClr val="17304A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39312" y="868680"/>
            <a:ext cx="1554480" cy="347472"/>
          </a:xfrm>
          <a:prstGeom prst="rect">
            <a:avLst/>
          </a:prstGeom>
          <a:solidFill>
            <a:srgbClr val="0090A8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9312" y="8686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39312" y="13258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39312" y="171907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Backend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02936" y="1463040"/>
            <a:ext cx="109728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58384" y="868680"/>
            <a:ext cx="1554480" cy="1371600"/>
          </a:xfrm>
          <a:prstGeom prst="rect">
            <a:avLst/>
          </a:prstGeom>
          <a:solidFill>
            <a:srgbClr val="17304A"/>
          </a:solidFill>
          <a:ln w="12700">
            <a:solidFill>
              <a:srgbClr val="8833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8384" y="868680"/>
            <a:ext cx="1554480" cy="347472"/>
          </a:xfrm>
          <a:prstGeom prst="rect">
            <a:avLst/>
          </a:prstGeom>
          <a:solidFill>
            <a:srgbClr val="8833CC"/>
          </a:solidFill>
          <a:ln w="12700">
            <a:solidFill>
              <a:srgbClr val="8833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58384" y="8686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58384" y="13258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.pkl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58384" y="171907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ML Model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22008" y="1463040"/>
            <a:ext cx="109728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77456" y="868680"/>
            <a:ext cx="1554480" cy="1371600"/>
          </a:xfrm>
          <a:prstGeom prst="rect">
            <a:avLst/>
          </a:prstGeom>
          <a:solidFill>
            <a:srgbClr val="17304A"/>
          </a:solidFill>
          <a:ln w="12700">
            <a:solidFill>
              <a:srgbClr val="22A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77456" y="868680"/>
            <a:ext cx="1554480" cy="347472"/>
          </a:xfrm>
          <a:prstGeom prst="rect">
            <a:avLst/>
          </a:prstGeom>
          <a:solidFill>
            <a:srgbClr val="22AA66"/>
          </a:solidFill>
          <a:ln w="12700">
            <a:solidFill>
              <a:srgbClr val="22A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77456" y="8686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77456" y="13258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77456" y="171907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Response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2468880"/>
            <a:ext cx="8595360" cy="2468880"/>
          </a:xfrm>
          <a:prstGeom prst="rect">
            <a:avLst/>
          </a:prstGeom>
          <a:solidFill>
            <a:srgbClr val="17304A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2578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2920" y="29443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— interactive web UI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355848" y="29443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55848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high-performance REST API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08776" y="29443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3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08776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serialised as .pkl file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2920" y="3749040"/>
            <a:ext cx="8229600" cy="64008"/>
          </a:xfrm>
          <a:prstGeom prst="rect">
            <a:avLst/>
          </a:prstGeom>
          <a:solidFill>
            <a:srgbClr val="1A2E45"/>
          </a:solidFill>
          <a:ln w="6350">
            <a:solidFill>
              <a:srgbClr val="0090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8587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tracked using MLflow for model comparison and reproducibility  |  System containerized using Docker for scalable deployment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" y="4206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two Streamlit applications: Prediction App and Analytics Dashboard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FUTURE ROADMAP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9144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841248"/>
            <a:ext cx="2029968" cy="1508760"/>
          </a:xfrm>
          <a:prstGeom prst="rect">
            <a:avLst/>
          </a:prstGeom>
          <a:solidFill>
            <a:srgbClr val="226655"/>
          </a:solidFill>
          <a:ln w="12700">
            <a:solidFill>
              <a:srgbClr val="2266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41248"/>
            <a:ext cx="2029968" cy="109728"/>
          </a:xfrm>
          <a:prstGeom prst="rect">
            <a:avLst/>
          </a:prstGeom>
          <a:solidFill>
            <a:srgbClr val="0090A8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6012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1463040"/>
            <a:ext cx="20299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delays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delivery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841248"/>
            <a:ext cx="2029968" cy="1508760"/>
          </a:xfrm>
          <a:prstGeom prst="rect">
            <a:avLst/>
          </a:prstGeom>
          <a:solidFill>
            <a:srgbClr val="226688"/>
          </a:solidFill>
          <a:ln w="12700">
            <a:solidFill>
              <a:srgbClr val="2266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841248"/>
            <a:ext cx="2029968" cy="109728"/>
          </a:xfrm>
          <a:prstGeom prst="rect">
            <a:avLst/>
          </a:prstGeom>
          <a:solidFill>
            <a:srgbClr val="0090A8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96012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1463040"/>
            <a:ext cx="20299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logistics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81728" y="841248"/>
            <a:ext cx="2029968" cy="1508760"/>
          </a:xfrm>
          <a:prstGeom prst="rect">
            <a:avLst/>
          </a:prstGeom>
          <a:solidFill>
            <a:srgbClr val="662288"/>
          </a:solidFill>
          <a:ln w="12700">
            <a:solidFill>
              <a:srgbClr val="6622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81728" y="841248"/>
            <a:ext cx="2029968" cy="109728"/>
          </a:xfrm>
          <a:prstGeom prst="rect">
            <a:avLst/>
          </a:prstGeom>
          <a:solidFill>
            <a:srgbClr val="0090A8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96012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81728" y="1463040"/>
            <a:ext cx="20299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operational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94576" y="841248"/>
            <a:ext cx="2029968" cy="1508760"/>
          </a:xfrm>
          <a:prstGeom prst="rect">
            <a:avLst/>
          </a:prstGeom>
          <a:solidFill>
            <a:srgbClr val="444455"/>
          </a:solidFill>
          <a:ln w="12700">
            <a:solidFill>
              <a:srgbClr val="4444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94576" y="841248"/>
            <a:ext cx="2029968" cy="109728"/>
          </a:xfrm>
          <a:prstGeom prst="rect">
            <a:avLst/>
          </a:prstGeom>
          <a:solidFill>
            <a:srgbClr val="0090A8"/>
          </a:solidFill>
          <a:ln w="12700">
            <a:solidFill>
              <a:srgbClr val="0090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94576" y="96012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94576" y="1463040"/>
            <a:ext cx="20299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customer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514600"/>
            <a:ext cx="8631936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514600"/>
            <a:ext cx="8631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6032" y="3017520"/>
            <a:ext cx="2743200" cy="1691640"/>
          </a:xfrm>
          <a:prstGeom prst="rect">
            <a:avLst/>
          </a:prstGeom>
          <a:solidFill>
            <a:srgbClr val="17304A"/>
          </a:solidFill>
          <a:ln w="12700">
            <a:solidFill>
              <a:srgbClr val="1730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108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" y="349300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supply chain delay alerts and dashboards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82112" y="3017520"/>
            <a:ext cx="2743200" cy="1691640"/>
          </a:xfrm>
          <a:prstGeom prst="rect">
            <a:avLst/>
          </a:prstGeom>
          <a:solidFill>
            <a:srgbClr val="17304A"/>
          </a:solidFill>
          <a:ln w="12700">
            <a:solidFill>
              <a:srgbClr val="1730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9272" y="3108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19272" y="349300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19272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SAP / Oracle for automated data flows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08192" y="3017520"/>
            <a:ext cx="2743200" cy="1691640"/>
          </a:xfrm>
          <a:prstGeom prst="rect">
            <a:avLst/>
          </a:prstGeom>
          <a:solidFill>
            <a:srgbClr val="17304A"/>
          </a:solidFill>
          <a:ln w="12700">
            <a:solidFill>
              <a:srgbClr val="1730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5352" y="3108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Optimisation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45352" y="349300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45352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rerouting and scheduling recommendations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  ·  Supply Chain Shipping Delay Prediction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Shipping Delay Prediction</dc:title>
  <dc:subject>PptxGenJS Presentation</dc:subject>
  <dc:creator>PptxGenJS</dc:creator>
  <cp:lastModifiedBy>PptxGenJS</cp:lastModifiedBy>
  <cp:revision>1</cp:revision>
  <dcterms:created xsi:type="dcterms:W3CDTF">2026-03-23T23:23:37Z</dcterms:created>
  <dcterms:modified xsi:type="dcterms:W3CDTF">2026-03-23T23:23:37Z</dcterms:modified>
</cp:coreProperties>
</file>